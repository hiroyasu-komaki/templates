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業務フロー定義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全体の流れ・関係者・RACI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{{DOC_PREFIX}}-P-01　｜　版 1.0　｜　所管 {{OWNER_DEPT}}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文書管理情報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{{DOC_PREFIX}}-P-01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{{OWNER_DEPT}}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{{SECRETARIAT_HEAD}}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最終改訂日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上位文書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{{GOV_DOMAIN}} 会議体規程（{{DOC_PREFIX}}-R-02）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{{REVIEW_CYCLE}}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11064240" cy="155448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4599432"/>
            <a:ext cx="107899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業務フロー定義は、案件の受付から完了までの全体の流れと、誰が何に責任を持つか（RACI）を1か所で示す文書。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手順の細部はRunbookに書き、ここでは「どの順で・誰から誰へ・何が渡るか」だけを示す。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関係部署が3つ以上ある場合に作る。部署間の受け渡しで案件が止まる箇所を見つけるのが目的。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目的と適用範囲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目的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{{この業務フローで何を実現するか}}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起案者が案件を起案する}}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事後モニタリングの報告を受領する}}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投資予算の案件}}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対象外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経費予算の継続案件}}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関係者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{{APPLICANT}}、{{SECRETARIAT}}、{{MEETING_NAMES}}、{{関係部署}}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全体フロー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DCE3EC"/>
          </a:solidFill>
          <a:ln w="15875">
            <a:solidFill>
              <a:srgbClr val="CFCAB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{{APPLICANT}}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64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A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DCE3EC"/>
          </a:solidFill>
          <a:ln w="15875">
            <a:solidFill>
              <a:srgbClr val="CFCAB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{{SECRETARIAT}}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005840"/>
          </a:xfrm>
          <a:prstGeom prst="rect">
            <a:avLst/>
          </a:prstGeom>
          <a:solidFill>
            <a:srgbClr val="F7F8FA"/>
          </a:solidFill>
          <a:ln w="9525">
            <a:solidFill>
              <a:srgbClr val="CFCA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DCE3EC"/>
          </a:solidFill>
          <a:ln w="15875">
            <a:solidFill>
              <a:srgbClr val="CFCAB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{{会議体A}}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110642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A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160520"/>
            <a:ext cx="1554480" cy="1005840"/>
          </a:xfrm>
          <a:prstGeom prst="roundRect">
            <a:avLst>
              <a:gd name="adj" fmla="val 5455"/>
            </a:avLst>
          </a:prstGeom>
          <a:solidFill>
            <a:srgbClr val="DCE3EC"/>
          </a:solidFill>
          <a:ln w="15875">
            <a:solidFill>
              <a:srgbClr val="CFCAB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{{会議体B}}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37160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{{起案}}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23774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{{受付・事前チェック}}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3832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{{審議・決定}}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43891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{{審議・決定}}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92640" y="237744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5875">
            <a:solidFill>
              <a:srgbClr val="5E7391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{{記録・通知}}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1645920"/>
            <a:ext cx="365760" cy="100584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2651760"/>
            <a:ext cx="365760" cy="100584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98080" y="3657600"/>
            <a:ext cx="365760" cy="100584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9326880" y="2651760"/>
            <a:ext cx="365760" cy="2011680"/>
          </a:xfrm>
          <a:prstGeom prst="line">
            <a:avLst/>
          </a:prstGeom>
          <a:noFill/>
          <a:ln w="19050">
            <a:solidFill>
              <a:srgbClr val="3F4F6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5422392"/>
            <a:ext cx="10789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レーンは関係者（部署・会議体）、箱は作業、矢印は受け渡しを表す。箱の中は「名詞＋動詞」で書き、Runbookの手順番号と対応させる。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差し戻し・再審議などの戻りの矢印は点線で描く。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プロセス一覧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1828800"/>
                <a:gridCol w="1828800"/>
                <a:gridCol w="1737360"/>
                <a:gridCol w="12801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No.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プロセス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入力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担当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期限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関連手順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受付}}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起案書}}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案件ID}}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2営業日}}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 §3.1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60527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フローの箱と1対1で対応させる。「関連手順」はRunbookまたはSOPの節番号を書く。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RACI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{{APPLICANT}}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{{会議体A}}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{{会議体B}}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{{関係部署}}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起案}}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R/A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事前チェック}}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R/A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優先度の決定}}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19379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R＝実行する、A＝最終責任を負う（1活動に1者だけ）、C＝事前に相談を受ける、I＝結果の報告を受ける。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Aが2者以上ある活動、Aが無い活動は、決定の責任が曖昧になっている箇所。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他のプロセス・部署との受け渡し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1097280"/>
                <a:gridCol w="237744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渡すもの／受け取るもの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方向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タイミング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手段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財務部門}}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予算計上の結果}}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渡す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Tier2の決定後5営業日以内}}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一覧表をメール}}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solidFill>
            <a:srgbClr val="EAF1F8"/>
          </a:solidFill>
          <a:ln w="12700">
            <a:solidFill>
              <a:srgbClr val="5E739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5468112"/>
            <a:ext cx="10789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3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📝 記入ガイド: </a:t>
            </a:r>
            <a:pPr indent="0" marL="0">
              <a:buNone/>
            </a:pPr>
            <a:r>
              <a:rPr lang="en-US" sz="1100" dirty="0">
                <a:solidFill>
                  <a:srgbClr val="333F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このフローの外側にある業務（予算編成、調達、契約など）との接点を書く。接点の定義がないと、決定後に案件が止まる。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{{DOC_PREFIX}}-P-01　{{GOV_DOMAIN}} 業務フロー定義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{{GOV_DOMAIN}} 業務フロー定義</dc:title>
  <dc:subject>PptxGenJS Presentation</dc:subject>
  <dc:creator>PptxGenJS</dc:creator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