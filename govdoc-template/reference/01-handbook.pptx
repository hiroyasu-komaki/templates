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{{GOV_DOMAIN}} 起案者ガイド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{{APPLICANT}}のための手引き（{{FISCAL_YEAR}}）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文書番号 {{DOC_PREFIX}}-F-01　｜　版 1.0　｜　所管 {{OWNER_DEPT}}　｜　最終改訂日 YYYY-MM-DD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このガイドについて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{{DOC_PREFIX}}-F-01　{{GOV_DOMAIN}} 起案者ガイド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対象者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{{APPLICANT}}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このガイドでわかること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申請が必要な案件、全体の流れ、締切、起案書の書き方、審議の結果の受け取り方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正式なルール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{{GOV_DOMAIN}} 運用基準（{{DOC_PREFIX}}-R-03）。本ガイドと食い違う場合は運用基準が優先する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問い合わせ先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{{SECRETARIAT}}　{{連絡先}}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54880"/>
            <a:ext cx="11064240" cy="1188720"/>
          </a:xfrm>
          <a:prstGeom prst="rect">
            <a:avLst/>
          </a:prstGeom>
          <a:solidFill>
            <a:srgbClr val="EAF1F8"/>
          </a:solidFill>
          <a:ln w="12700">
            <a:solidFill>
              <a:srgbClr val="5E739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4828032"/>
            <a:ext cx="107899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73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📝 記入ガイド: </a:t>
            </a:r>
            <a:pPr indent="0" marL="0">
              <a:buNone/>
            </a:pPr>
            <a:r>
              <a:rPr lang="en-US" sz="1100" dirty="0">
                <a:solidFill>
                  <a:srgbClr val="333F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起案者ガイドは申請者向けに、規程・基準の要点を平易に説明する文書。条文を言い換えすぎず、各スライドに根拠の条文番号を小さく添える。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F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申請者が最初に迷う3点（出すべきか・いつまでか・何を書くか）を最初の数枚で答える。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全体の流れ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{{DOC_PREFIX}}-F-01　{{GOV_DOMAIN}} 起案者ガイド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25880" y="1371600"/>
            <a:ext cx="548640" cy="548640"/>
          </a:xfrm>
          <a:prstGeom prst="ellipse">
            <a:avLst/>
          </a:prstGeom>
          <a:solidFill>
            <a:srgbClr val="1C2B45"/>
          </a:solidFill>
          <a:ln>
            <a:solidFill>
              <a:srgbClr val="1C2B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{{起案}}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{{誰が・何をするか}}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2468880"/>
            <a:ext cx="137160" cy="0"/>
          </a:xfrm>
          <a:prstGeom prst="line">
            <a:avLst/>
          </a:prstGeom>
          <a:noFill/>
          <a:ln w="19050">
            <a:solidFill>
              <a:srgbClr val="3F4F6A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566160" y="1371600"/>
            <a:ext cx="548640" cy="548640"/>
          </a:xfrm>
          <a:prstGeom prst="ellipse">
            <a:avLst/>
          </a:prstGeom>
          <a:solidFill>
            <a:srgbClr val="1C2B45"/>
          </a:solidFill>
          <a:ln>
            <a:solidFill>
              <a:srgbClr val="1C2B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88920" y="210312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{{受付・事前チェック}}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{{誰が・何をするか}}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92040" y="2468880"/>
            <a:ext cx="137160" cy="0"/>
          </a:xfrm>
          <a:prstGeom prst="line">
            <a:avLst/>
          </a:prstGeom>
          <a:noFill/>
          <a:ln w="19050">
            <a:solidFill>
              <a:srgbClr val="3F4F6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806440" y="1371600"/>
            <a:ext cx="548640" cy="548640"/>
          </a:xfrm>
          <a:prstGeom prst="ellipse">
            <a:avLst/>
          </a:prstGeom>
          <a:solidFill>
            <a:srgbClr val="1C2B45"/>
          </a:solidFill>
          <a:ln>
            <a:solidFill>
              <a:srgbClr val="1C2B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{{審議}}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{{誰が・何をするか}}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0" y="2468880"/>
            <a:ext cx="137160" cy="0"/>
          </a:xfrm>
          <a:prstGeom prst="line">
            <a:avLst/>
          </a:prstGeom>
          <a:noFill/>
          <a:ln w="19050">
            <a:solidFill>
              <a:srgbClr val="3F4F6A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046720" y="1371600"/>
            <a:ext cx="548640" cy="548640"/>
          </a:xfrm>
          <a:prstGeom prst="ellipse">
            <a:avLst/>
          </a:prstGeom>
          <a:solidFill>
            <a:srgbClr val="1C2B45"/>
          </a:solidFill>
          <a:ln>
            <a:solidFill>
              <a:srgbClr val="1C2B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69480" y="210312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{{決定の通知}}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{{誰が・何をするか}}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72600" y="2468880"/>
            <a:ext cx="137160" cy="0"/>
          </a:xfrm>
          <a:prstGeom prst="line">
            <a:avLst/>
          </a:prstGeom>
          <a:noFill/>
          <a:ln w="19050">
            <a:solidFill>
              <a:srgbClr val="3F4F6A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0287000" y="1371600"/>
            <a:ext cx="548640" cy="548640"/>
          </a:xfrm>
          <a:prstGeom prst="ellipse">
            <a:avLst/>
          </a:prstGeom>
          <a:solidFill>
            <a:srgbClr val="1C2B45"/>
          </a:solidFill>
          <a:ln>
            <a:solidFill>
              <a:srgbClr val="1C2B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09760" y="210312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{{実行・報告}}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50976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{{誰が・何をするか}}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206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根拠: 業務フロー定義（{{DOC_PREFIX}}-P-01）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申請が必要な案件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{{DOC_PREFIX}}-F-01　{{GOV_DOMAIN}} 起案者ガイド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94960" cy="3566160"/>
          </a:xfrm>
          <a:prstGeom prst="rect">
            <a:avLst/>
          </a:prstGeom>
          <a:solidFill>
            <a:srgbClr val="F7F8FA"/>
          </a:solidFill>
          <a:ln w="19050">
            <a:solidFill>
              <a:srgbClr val="1C2B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371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申請が必要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659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{{例: 新規導入・改修（設備投資・プロジェクト）}}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 }}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 }}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394960" cy="3566160"/>
          </a:xfrm>
          <a:prstGeom prst="rect">
            <a:avLst/>
          </a:prstGeom>
          <a:solidFill>
            <a:srgbClr val="F7F8FA"/>
          </a:solidFill>
          <a:ln w="19050">
            <a:solidFill>
              <a:srgbClr val="5B667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371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申請が不要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9659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{{例: 経費予算の継続案件（契約条件の変更を伴わないもの）}}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 }}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 }}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892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根拠: 運用基準 第○条　／　判断に迷う場合は{{SECRETARIAT}}へ相談してください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スケジュール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{{DOC_PREFIX}}-F-01　{{GOV_DOMAIN}} 起案者ガイド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84048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時期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イベント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起案者がすること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{{YYYY-MM-DD}}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起案受付開始}}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{{YYYY-MM-DD}}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起案締切}}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起案書を提出する}}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{{YYYY-MM-DD}}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Tier1開催}}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{{YYYY-MM-DD}}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結果の通知}}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46320"/>
            <a:ext cx="11064240" cy="640080"/>
          </a:xfrm>
          <a:prstGeom prst="rect">
            <a:avLst/>
          </a:prstGeom>
          <a:solidFill>
            <a:srgbClr val="EAF1F8"/>
          </a:solidFill>
          <a:ln w="12700">
            <a:solidFill>
              <a:srgbClr val="5E739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4919472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73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📝 記入ガイド: </a:t>
            </a:r>
            <a:pPr indent="0" marL="0">
              <a:buNone/>
            </a:pPr>
            <a:r>
              <a:rPr lang="en-US" sz="1100" dirty="0">
                <a:solidFill>
                  <a:srgbClr val="333F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日付は年間カレンダー（{{DOC_PREFIX}}-F-06）から転記する。締切を過ぎた場合の扱いも1行添える。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起案書の書き方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{{DOC_PREFIX}}-F-01　{{GOV_DOMAIN}} 起案者ガイド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292608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書くこと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良い例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避けたい例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期待効果}}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財務効果と非財務効果を分けて書く}}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ライセンス費が年○円減る}}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○人月の削減＝○円相当}}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{{項目}}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{{項目}}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846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様式: 様式{{様式番号}}（{{DOC_PREFIX}}-F-05準拠）　／　詳しくはガイドライン（{{DOC_PREFIX}}-R-05）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審議の結果と次のステップ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{{DOC_PREFIX}}-F-01　{{GOV_DOMAIN}} 起案者ガイド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651760" cy="3108960"/>
          </a:xfrm>
          <a:prstGeom prst="rect">
            <a:avLst/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{{次にすること}}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0420" y="1188720"/>
            <a:ext cx="2651760" cy="3108960"/>
          </a:xfrm>
          <a:prstGeom prst="rect">
            <a:avLst/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330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条件付き承認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43300" y="19659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{{例: 条件を満たしたことを事務局に報告する}}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188720"/>
            <a:ext cx="2651760" cy="3108960"/>
          </a:xfrm>
          <a:prstGeom prst="rect">
            <a:avLst/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差し戻し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19659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{{例: 指摘を反映して再提出する}}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83980" y="1188720"/>
            <a:ext cx="2651760" cy="3108960"/>
          </a:xfrm>
          <a:prstGeom prst="rect">
            <a:avLst/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6686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否決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166860" y="19659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{{次にすること}}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434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根拠: 運用基準 第○条（判断区分）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よくある間違いと問い合わせ先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{{DOC_PREFIX}}-F-01　{{GOV_DOMAIN}} 起案者ガイド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よくある間違い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どうすればよいか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分割して申請する}}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同一目的の案件はまとめて申請する（運用基準 第7条）}}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問い合わせ先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連絡先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受付時間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{{SECRETARIAT}}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{{メール・チャネル}}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 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937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よくある質問はFAQ（{{DOC_PREFIX}}-F-02）を参照してください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改訂履歴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{{DOC_PREFIX}}-F-01　{{GOV_DOMAIN}} 起案者ガイド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645920"/>
                <a:gridCol w="521208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日付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改訂内容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改訂者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承認者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YYYY-MM-DD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制定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{{GOV_DOMAIN}} 起案者ガイド</dc:title>
  <dc:subject>PptxGenJS Presentation</dc:subject>
  <dc:creator>PptxGenJS</dc:creator>
  <cp:lastModifiedBy>PptxGenJS</cp:lastModifiedBy>
  <cp:revision>1</cp:revision>
  <dcterms:created xsi:type="dcterms:W3CDTF">2026-09-29T22:38:01Z</dcterms:created>
  <dcterms:modified xsi:type="dcterms:W3CDTF">2026-09-29T22:38:01Z</dcterms:modified>
</cp:coreProperties>
</file>